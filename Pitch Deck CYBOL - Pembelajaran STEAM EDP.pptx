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av" ContentType="audio/x-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Space Grotesk"/>
      <p:bold r:id="rId15"/>
    </p:embeddedFont>
    <p:embeddedFont>
      <p:font typeface="Plus Jakarta Sans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1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audio" Target="../media/audio1.wav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1829" y="4218533"/>
            <a:ext cx="2247900" cy="409575"/>
          </a:xfrm>
          <a:prstGeom prst="roundRect">
            <a:avLst>
              <a:gd name="adj" fmla="val 18604"/>
            </a:avLst>
          </a:prstGeom>
          <a:solidFill>
            <a:srgbClr val="153049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009900" y="4218533"/>
            <a:ext cx="2343150" cy="409575"/>
          </a:xfrm>
          <a:prstGeom prst="roundRect">
            <a:avLst>
              <a:gd name="adj" fmla="val 18604"/>
            </a:avLst>
          </a:prstGeom>
          <a:solidFill>
            <a:srgbClr val="222A3B"/>
          </a:solidFill>
          <a:ln w="9525">
            <a:solidFill>
              <a:srgbClr val="3F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361408"/>
            <a:ext cx="18097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9925" y="4361408"/>
            <a:ext cx="180975" cy="142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229742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Space Grotesk"/>
              </a:rPr>
              <a:t>PT CYLLA KARYA EDUKATIKA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582167"/>
            <a:ext cx="10626328" cy="569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CYBOL: Cylla Bimbingan Online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342233"/>
            <a:ext cx="6953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Model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Pembelajaran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STEAM Dual-Mode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Berbasis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EDP 6-Tahap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untuk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Semua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Jenjang</a:t>
            </a: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</a:t>
            </a:r>
            <a:r>
              <a:rPr sz="1500" b="0" i="0" u="none" dirty="0" err="1">
                <a:solidFill>
                  <a:srgbClr val="94A3B8"/>
                </a:solidFill>
                <a:latin typeface="Plus Jakarta Sans"/>
              </a:rPr>
              <a:t>Pendidikan</a:t>
            </a:r>
            <a:endParaRPr sz="1500" b="0" i="0" u="none" dirty="0">
              <a:solidFill>
                <a:srgbClr val="94A3B8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0600" y="4348850"/>
            <a:ext cx="19621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38BDF8"/>
                </a:solidFill>
                <a:latin typeface="Plus Jakarta Sans"/>
              </a:rPr>
              <a:t> STEAM BOX CYBOL KIT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0900" y="4348851"/>
            <a:ext cx="2057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E2E8F0"/>
                </a:solidFill>
                <a:latin typeface="Plus Jakarta Sans"/>
              </a:rPr>
              <a:t> PAUD </a:t>
            </a:r>
            <a:r>
              <a:rPr sz="1125" b="1" i="0" u="none" dirty="0" err="1">
                <a:solidFill>
                  <a:srgbClr val="E2E8F0"/>
                </a:solidFill>
                <a:latin typeface="Plus Jakarta Sans"/>
              </a:rPr>
              <a:t>hingga</a:t>
            </a:r>
            <a:r>
              <a:rPr sz="1125" b="1" i="0" u="none" dirty="0">
                <a:solidFill>
                  <a:srgbClr val="E2E8F0"/>
                </a:solidFill>
                <a:latin typeface="Plus Jakarta Sans"/>
              </a:rPr>
              <a:t> SMA / SMK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  <p:sndAc>
          <p:stSnd>
            <p:snd r:embed="rId2" name="click.wav"/>
          </p:stSnd>
        </p:sndAc>
      </p:transition>
    </mc:Choice>
    <mc:Fallback xmlns="">
      <p:transition>
        <p:cut/>
        <p:sndAc>
          <p:stSnd>
            <p:snd r:embed="rId5" name="click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84289"/>
            <a:ext cx="3505200" cy="2108596"/>
          </a:xfrm>
          <a:prstGeom prst="roundRect">
            <a:avLst>
              <a:gd name="adj" fmla="val 72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84289"/>
            <a:ext cx="3505200" cy="2108596"/>
          </a:xfrm>
          <a:prstGeom prst="roundRect">
            <a:avLst>
              <a:gd name="adj" fmla="val 72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84289"/>
            <a:ext cx="3505200" cy="2108596"/>
          </a:xfrm>
          <a:prstGeom prst="roundRect">
            <a:avLst>
              <a:gd name="adj" fmla="val 722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98614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198614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198614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362" y="3322439"/>
            <a:ext cx="238125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4875" y="3322439"/>
            <a:ext cx="26670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1537" y="3322439"/>
            <a:ext cx="180975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1144848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284C7"/>
                </a:solidFill>
                <a:latin typeface="Plus Jakarta Sans"/>
              </a:rPr>
              <a:t>LATAR BELAKANG &amp; MASALAH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640148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Tantangan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Utama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Praktikum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Saat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Ini</a:t>
            </a:r>
            <a:endParaRPr sz="24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5825" y="3846314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Dominasi Teori Pasif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198739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Siswa menghafal rumus tanpa pengalaman eksperimen langsung.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46314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Ketergantungan Sinyal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4198739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Pembelajaran online terhenti total saat internet terputus.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846314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Alat Tidak Terstandar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4198739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Bahan bekas menghasilkan data acak yang sulit dibandingkan.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89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36528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376737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075" y="2090737"/>
            <a:ext cx="5267325" cy="3619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00262"/>
            <a:ext cx="5248275" cy="3600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756811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SOLUSI INOVATIF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271587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STEAM BOX CYBOL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725" y="29289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725" y="36528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725" y="4376737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2928937"/>
            <a:ext cx="554831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Komponen Kit Terstandar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3205162"/>
            <a:ext cx="5548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Tabung reaktor 550 mL dengan graduasi volume presisi.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4900" y="3652837"/>
            <a:ext cx="540543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Media Penyaring Lengkap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3929062"/>
            <a:ext cx="5405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Kerikil alam, pasir silika, arang aktif, dan kapas selulosa.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4900" y="4376737"/>
            <a:ext cx="581025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Panduan Praktikum Praktis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" y="4652962"/>
            <a:ext cx="581025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Petunjuk terstruktur siap pakai tanpa pendampingan rumit.</a:t>
            </a:r>
          </a:p>
        </p:txBody>
      </p:sp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14700"/>
            <a:ext cx="17018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463849" y="3314700"/>
            <a:ext cx="17018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8099" y="3314700"/>
            <a:ext cx="17018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72348" y="3314700"/>
            <a:ext cx="17018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26598" y="3314700"/>
            <a:ext cx="17018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880848" y="3314700"/>
            <a:ext cx="1701849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1433512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METODE PEMBELAJARAN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824037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Alur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Rekayasa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EDP 6-Tahap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505200"/>
            <a:ext cx="14922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0284C7"/>
                </a:solidFill>
                <a:latin typeface="Plus Jakarta Sans"/>
              </a:rPr>
              <a:t>01. DEFINE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6249" y="3505200"/>
            <a:ext cx="14922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02. IMAGINE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0499" y="3505200"/>
            <a:ext cx="14922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03.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748" y="3505200"/>
            <a:ext cx="14922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04. CREATE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8998" y="3505200"/>
            <a:ext cx="14922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05. EXPERIMENT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3248" y="3505200"/>
            <a:ext cx="1492299" cy="86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06. IMPROVE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3743325"/>
            <a:ext cx="1722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Masalah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4000500"/>
            <a:ext cx="14732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Kenali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krisis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 air </a:t>
            </a:r>
            <a:r>
              <a:rPr sz="1125" b="0" i="0" u="none" dirty="0" err="1">
                <a:solidFill>
                  <a:srgbClr val="64748B"/>
                </a:solidFill>
                <a:latin typeface="Plus Jakarta Sans"/>
              </a:rPr>
              <a:t>keruh</a:t>
            </a:r>
            <a:r>
              <a:rPr sz="1125" b="0" i="0" u="none" dirty="0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5774" y="3743325"/>
            <a:ext cx="1722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Sketsa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25774" y="4000500"/>
            <a:ext cx="14732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Gambar ide susunan.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024" y="3743325"/>
            <a:ext cx="1722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Rencana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024" y="4000500"/>
            <a:ext cx="14732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Tentukan tebal media.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4273" y="3743325"/>
            <a:ext cx="1722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Rakit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4273" y="4000500"/>
            <a:ext cx="17224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Susun media filter.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8523" y="3743325"/>
            <a:ext cx="1722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Uji Coba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8523" y="4000500"/>
            <a:ext cx="172249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Ukur laju filtrasi.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2773" y="3743325"/>
            <a:ext cx="172249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Optimasi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2773" y="4000500"/>
            <a:ext cx="147324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Ubah 1 variabel tunggal.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8437"/>
            <a:ext cx="5391150" cy="1085850"/>
          </a:xfrm>
          <a:prstGeom prst="roundRect">
            <a:avLst>
              <a:gd name="adj" fmla="val 12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91250" y="2738437"/>
            <a:ext cx="5391150" cy="1085850"/>
          </a:xfrm>
          <a:prstGeom prst="roundRect">
            <a:avLst>
              <a:gd name="adj" fmla="val 12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14787"/>
            <a:ext cx="5391150" cy="1085850"/>
          </a:xfrm>
          <a:prstGeom prst="roundRect">
            <a:avLst>
              <a:gd name="adj" fmla="val 12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4014787"/>
            <a:ext cx="5391150" cy="1085850"/>
          </a:xfrm>
          <a:prstGeom prst="roundRect">
            <a:avLst>
              <a:gd name="adj" fmla="val 1228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964067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NILAI KEBARUAN (NOVELTY)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93018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4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Pilar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Keunggulan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CYBOL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14662"/>
            <a:ext cx="63507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1. Dual-Mode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328987"/>
            <a:ext cx="6048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Lancar online maupun offline murni.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7475" y="3014662"/>
            <a:ext cx="5724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2. EDP Kuantitatif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7475" y="3328987"/>
            <a:ext cx="5724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Pengukuran terukur laju filtrasi mL/menit.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291012"/>
            <a:ext cx="6350793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3. Single-Kit Lintas Jenjang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605337"/>
            <a:ext cx="60483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Satu kit untuk PAUD hingga SMA.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475" y="4291012"/>
            <a:ext cx="57245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4. Integrasi Afektif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7475" y="4605337"/>
            <a:ext cx="57245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Jurnal refleksi empati lingkungan.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15458" y="2262187"/>
            <a:ext cx="5766941" cy="704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815458" y="3119437"/>
            <a:ext cx="5766941" cy="704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15458" y="3976687"/>
            <a:ext cx="5766941" cy="704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5458" y="4833937"/>
            <a:ext cx="5766941" cy="70485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5458" y="2262187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5458" y="3119437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5458" y="3976687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5458" y="4833937"/>
            <a:ext cx="38100" cy="7048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90737"/>
            <a:ext cx="4824858" cy="3619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2100262"/>
            <a:ext cx="4805808" cy="3600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FLEKSIBILITAS KURIKULUM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Adaptif untuk Semua Jenjang Sekolah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44058" y="2395537"/>
            <a:ext cx="61479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PAUD / TK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4058" y="2633662"/>
            <a:ext cx="614794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Eksplorasi sensori tekstur bahan dan warna air.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4058" y="3252787"/>
            <a:ext cx="61479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SD (Fase B/C)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4058" y="3490912"/>
            <a:ext cx="614794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Pengenalan fungsi media dan pengukuran volume.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058" y="4110037"/>
            <a:ext cx="61479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SMP (Fase 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058" y="4348162"/>
            <a:ext cx="614794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Kalkulasi laju filtrasi dan perbandingan waktu.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44058" y="4967287"/>
            <a:ext cx="614794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SMA / SMK (Fase E/F)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44058" y="5205412"/>
            <a:ext cx="614794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Analisis adsorpsi kimia dan penyusunan laporan riset.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462212"/>
            <a:ext cx="5286375" cy="1514475"/>
          </a:xfrm>
          <a:prstGeom prst="roundRect">
            <a:avLst>
              <a:gd name="adj" fmla="val 10062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4205287"/>
            <a:ext cx="5286375" cy="1133475"/>
          </a:xfrm>
          <a:prstGeom prst="roundRect">
            <a:avLst>
              <a:gd name="adj" fmla="val 10084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6975" y="2090737"/>
            <a:ext cx="5305425" cy="3619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00262"/>
            <a:ext cx="5286375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533400"/>
            <a:ext cx="115824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STUDI KASUS PROYEK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9057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Proyek Filtrasi Air Sederhana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738437"/>
            <a:ext cx="5917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284C7"/>
                </a:solidFill>
                <a:latin typeface="Plus Jakarta Sans"/>
              </a:rPr>
              <a:t>TARGET UTAMA PROYEK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976562"/>
            <a:ext cx="5917406" cy="4476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369A1"/>
                </a:solidFill>
                <a:latin typeface="Plus Jakarta Sans"/>
              </a:rPr>
              <a:t>&gt; 15 mL / menit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500437"/>
            <a:ext cx="5917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C4A6E"/>
                </a:solidFill>
                <a:latin typeface="Plus Jakarta Sans"/>
              </a:rPr>
              <a:t>Laju filtrasi minimum air jernih visual.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405312"/>
            <a:ext cx="6107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Prinsip Kerja Rekayasa: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681537"/>
            <a:ext cx="6107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25252"/>
                </a:solidFill>
                <a:latin typeface="Plus Jakarta Sans"/>
              </a:rPr>
              <a:t>• Retensi Fisik: Kerikil, pasir &amp; kapas menahan padatan.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938712"/>
            <a:ext cx="61079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25252"/>
                </a:solidFill>
                <a:latin typeface="Plus Jakarta Sans"/>
              </a:rPr>
              <a:t>• Adsorpsi Kimia: Arang kayu menyerap bau dan warna.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95650" y="4472880"/>
            <a:ext cx="5600700" cy="542925"/>
          </a:xfrm>
          <a:prstGeom prst="roundRect">
            <a:avLst>
              <a:gd name="adj" fmla="val 21052"/>
            </a:avLst>
          </a:prstGeom>
          <a:solidFill>
            <a:srgbClr val="13283F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363640" y="1842194"/>
            <a:ext cx="34647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Space Grotesk"/>
              </a:rPr>
              <a:t>KOLABORASI &amp; PENGEMBANGAN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5375" y="2194619"/>
            <a:ext cx="100012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Plus Jakarta Sans"/>
              </a:rPr>
              <a:t>Mari Bersama Memajukan Pendidikan STEAM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20380"/>
            <a:ext cx="8096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Target Misi: Hilirisasi Riset, Pendanaan BRIN / Startup, HAKI Modul &amp; Publikasi Jurnal Bereputasi.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8468" y="4634805"/>
            <a:ext cx="6215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FFFFFF"/>
                </a:solidFill>
                <a:latin typeface="Plus Jakarta Sans"/>
              </a:rPr>
              <a:t>PT Cylla Karya Edukatika — CYBOL (Cylla Bimbingan Online)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8477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4669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097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6193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8225"/>
            <a:ext cx="66555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https://cdn.shopify.com/s/files/1/1994/4551/products/PrimaryLabKit.jpg?v=1654201865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8250"/>
            <a:ext cx="248840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timberdoodle.com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771650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https://www.learninga-z.com/site/resources/breakroom-blog/media_143444c560fb76a15a7b2a821d96ea648981f80b5.jpeg?width=750&amp;format=jpeg&amp;optimize=medium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124075"/>
            <a:ext cx="2738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www.learninga-z.com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657475"/>
            <a:ext cx="61674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https://frugalfun4boys.com/wp-content/uploads/2024/06/Water-Filter-FB-2.jpg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857500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frugalfun4boys.com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392</Words>
  <Application>Microsoft Office PowerPoint</Application>
  <PresentationFormat>Widescreen</PresentationFormat>
  <Paragraphs>83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Space Grotesk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Iwan</cp:lastModifiedBy>
  <cp:revision>3</cp:revision>
  <dcterms:created xsi:type="dcterms:W3CDTF">2013-01-27T09:14:16Z</dcterms:created>
  <dcterms:modified xsi:type="dcterms:W3CDTF">2026-10-09T06:22:12Z</dcterms:modified>
  <cp:category/>
</cp:coreProperties>
</file>